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Edge AI, City-Wide — Without a VPN</a:t>
            </a:r>
          </a:p>
          <a:p>
            <a:r>
              <a:rPr sz="2000">
                <a:solidFill>
                  <a:srgbClr val="9FE7E7"/>
                </a:solidFill>
              </a:rPr>
              <a:t>Distributed camera-inference machines publishing over the Atsign Platform — the flows, the traditional VPN/firewall alternative, and the economics</a:t>
            </a:r>
          </a:p>
          <a:p>
            <a:pPr>
              <a:spcBef>
                <a:spcPts val="1800"/>
              </a:spcBef>
            </a:pPr>
            <a:r>
              <a:rPr sz="1400">
                <a:solidFill>
                  <a:srgbClr val="B8C0CC"/>
                </a:solidFill>
              </a:rPr>
              <a:t>Smart Route Planning migration · verified end-to-end · Python + Dart SDKs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2377440" cy="73152"/>
          </a:xfrm>
          <a:prstGeom prst="rect">
            <a:avLst/>
          </a:prstGeom>
          <a:solidFill>
            <a:srgbClr val="13B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Deployment — every machine is an identity, no machine listens</a:t>
            </a:r>
            <a:r>
              <a:rPr sz="1300">
                <a:solidFill>
                  <a:srgbClr val="DEF2F2"/>
                </a:solidFill>
              </a:rPr>
              <a:t>   each intersection runs its own inference box; only tiny encrypted messages leave the site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2971800" cy="1298448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00" b="1">
                <a:solidFill>
                  <a:srgbClr val="0A6E6E"/>
                </a:solidFill>
              </a:rPr>
              <a:t>Intersection — Market St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📷 camera → LOCAL inference (vehicle density)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edge machine · Intel CPU/GPU · video never leaves site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publishes as  @intc_intxn_market_st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615184"/>
            <a:ext cx="2971800" cy="1298448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00" b="1">
                <a:solidFill>
                  <a:srgbClr val="0A6E6E"/>
                </a:solidFill>
              </a:rPr>
              <a:t>Intersection — 5th Ave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📷 camera → LOCAL inference (vehicle density)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edge machine · Intel CPU/GPU · video never leaves site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publishes as  @intc_intxn_5th_ave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041648"/>
            <a:ext cx="2971800" cy="1298448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00" b="1">
                <a:solidFill>
                  <a:srgbClr val="0A6E6E"/>
                </a:solidFill>
              </a:rPr>
              <a:t>Intersection — Broadway  (…×N)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📷 camera → LOCAL inference (vehicle density)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edge machine · Intel CPU/GPU · video never leaves site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publishes as  @intc_intxn_broadway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468112"/>
            <a:ext cx="2971800" cy="896112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00" b="1">
                <a:solidFill>
                  <a:srgbClr val="0A6E6E"/>
                </a:solidFill>
              </a:rPr>
              <a:t>Condition feed machines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weather / traffic-trends / planned events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@intc_weather_feed · @intc_traffic_trends_feed · @intc_events_feed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13632" y="1188720"/>
            <a:ext cx="1481328" cy="5029200"/>
          </a:xfrm>
          <a:prstGeom prst="roundRect">
            <a:avLst>
              <a:gd name="adj" fmla="val 5000"/>
            </a:avLst>
          </a:prstGeom>
          <a:solidFill>
            <a:srgbClr val="0E8C8C"/>
          </a:solidFill>
          <a:ln w="22225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Atsign Platform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atServers (cloud)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end-to-end encrypted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store &amp; forward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outbound-only TLS on BOTH sides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no inbound ports anywhere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addressed by identity, not 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41732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13B513"/>
                </a:solidFill>
              </a:rPr>
              <a:t>Route Planner (server)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@intc_smartroute_planner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Intel LangGraph brain — unchanged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re-plans every ~8 s from the encrypted cache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accepts ONLY policy-granted publishers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3749039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9050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555F6B"/>
                </a:solidFill>
              </a:rPr>
              <a:t>Policy plane (default-deny)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engine  @intc_route_policy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admin (web)  @intc_route_policy_admin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grant / revoke a machine in one click — applies in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417320"/>
            <a:ext cx="2395728" cy="1325880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50" b="1">
                <a:solidFill>
                  <a:srgbClr val="13B513"/>
                </a:solidFill>
              </a:rPr>
              <a:t>Operator console (web)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@intc_route_operator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live map · 🚨 reroute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3291840"/>
            <a:ext cx="2395728" cy="1417320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50" b="1">
                <a:solidFill>
                  <a:srgbClr val="13B513"/>
                </a:solidFill>
              </a:rPr>
              <a:t>Commuter app (Flutter)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@intc_commuter01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route + reroute alerts on the phone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works on any network — no VPN 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" y="1837944"/>
            <a:ext cx="621792" cy="0"/>
          </a:xfrm>
          <a:prstGeom prst="line">
            <a:avLst/>
          </a:prstGeom>
          <a:ln w="28575">
            <a:solidFill>
              <a:srgbClr val="0E8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91840" y="3264408"/>
            <a:ext cx="621792" cy="0"/>
          </a:xfrm>
          <a:prstGeom prst="line">
            <a:avLst/>
          </a:prstGeom>
          <a:ln w="28575">
            <a:solidFill>
              <a:srgbClr val="0E8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40" y="4690872"/>
            <a:ext cx="621792" cy="0"/>
          </a:xfrm>
          <a:prstGeom prst="line">
            <a:avLst/>
          </a:prstGeom>
          <a:ln w="28575">
            <a:solidFill>
              <a:srgbClr val="0E8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0" y="6007608"/>
            <a:ext cx="621792" cy="0"/>
          </a:xfrm>
          <a:prstGeom prst="line">
            <a:avLst/>
          </a:prstGeom>
          <a:ln w="28575">
            <a:solidFill>
              <a:srgbClr val="0E8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94960" y="2148840"/>
            <a:ext cx="658368" cy="0"/>
          </a:xfrm>
          <a:prstGeom prst="line">
            <a:avLst/>
          </a:prstGeom>
          <a:ln w="28575">
            <a:solidFill>
              <a:srgbClr val="0E8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42248" y="1920240"/>
            <a:ext cx="621792" cy="0"/>
          </a:xfrm>
          <a:prstGeom prst="line">
            <a:avLst/>
          </a:prstGeom>
          <a:ln w="28575">
            <a:solidFill>
              <a:srgbClr val="13B51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42248" y="2377440"/>
            <a:ext cx="621792" cy="1463040"/>
          </a:xfrm>
          <a:prstGeom prst="line">
            <a:avLst/>
          </a:prstGeom>
          <a:ln w="28575">
            <a:solidFill>
              <a:srgbClr val="13B51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87968" y="2788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3B513"/>
                </a:solidFill>
              </a:rPr>
              <a:t>route + status pushes (via platform)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424928" y="3017520"/>
            <a:ext cx="0" cy="731519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43800" y="3310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F6B"/>
                </a:solidFill>
              </a:rPr>
              <a:t>grants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641908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15875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0 inbound 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641908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15875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E2E encrypted by default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6419088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15875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~1 KB messages — no video backhaul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6419088"/>
            <a:ext cx="2395728" cy="38404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15875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join = a policy grant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flow — camera frame to rerouted commuter, end to end encrypted</a:t>
            </a:r>
            <a:r>
              <a:rPr sz="1300">
                <a:solidFill>
                  <a:srgbClr val="DEF2F2"/>
                </a:solidFill>
              </a:rPr>
              <a:t>   numbered path of one congestion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307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6E"/>
                </a:solidFill>
              </a:rPr>
              <a:t>AT THE INTERSECTION (edge machine)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227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6E"/>
                </a:solidFill>
              </a:rPr>
              <a:t>AT THE PLANNER (server)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56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6E"/>
                </a:solidFill>
              </a:rPr>
              <a:t>AT THE CONSUMERS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18488"/>
            <a:ext cx="3657600" cy="1170432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0A6E6E"/>
                </a:solidFill>
              </a:rPr>
              <a:t>1 · Capture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camera frames analysed on-site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video never leaves the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18488"/>
            <a:ext cx="3657600" cy="1170432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0A6E6E"/>
                </a:solidFill>
              </a:rPr>
              <a:t>2 · Infer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vehicle density = 30 (threshold 10)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OpenVINO/CPU — no cloud round-trip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18488"/>
            <a:ext cx="3657600" cy="1170432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0A6E6E"/>
                </a:solidFill>
              </a:rPr>
              <a:t>3 · Publish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notify: live_traffic → planner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encrypted to the planner's key,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signed by the intersection's atSign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TTL 60 s — stale data self-erases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2194560"/>
            <a:ext cx="320040" cy="0"/>
          </a:xfrm>
          <a:prstGeom prst="line">
            <a:avLst/>
          </a:prstGeom>
          <a:ln w="28575">
            <a:solidFill>
              <a:srgbClr val="0E8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92440" y="2194560"/>
            <a:ext cx="320040" cy="0"/>
          </a:xfrm>
          <a:prstGeom prst="line">
            <a:avLst/>
          </a:prstGeom>
          <a:ln w="28575">
            <a:solidFill>
              <a:srgbClr val="0E8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538728"/>
            <a:ext cx="3657600" cy="1170432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13B513"/>
                </a:solidFill>
              </a:rPr>
              <a:t>4 · Verify &amp; admit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provably from @intc_intxn_market_st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policy check: granted? (default-deny)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revoked publisher → dropped + cache purged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38728"/>
            <a:ext cx="3657600" cy="1170432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13B513"/>
                </a:solidFill>
              </a:rPr>
              <a:t>5 · Re-plan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Intel LangGraph runs unchanged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density &gt; threshold on current route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→ pick next shortest clean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538728"/>
            <a:ext cx="3657600" cy="1170432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13B513"/>
                </a:solidFill>
              </a:rPr>
              <a:t>6 · Push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route → commuter, status → operator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encrypted per recipient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no consumer polls anything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4114800"/>
            <a:ext cx="320040" cy="0"/>
          </a:xfrm>
          <a:prstGeom prst="line">
            <a:avLst/>
          </a:prstGeom>
          <a:ln w="28575">
            <a:solidFill>
              <a:srgbClr val="13B51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92440" y="4114800"/>
            <a:ext cx="320040" cy="0"/>
          </a:xfrm>
          <a:prstGeom prst="line">
            <a:avLst/>
          </a:prstGeom>
          <a:ln w="28575">
            <a:solidFill>
              <a:srgbClr val="13B51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22960" y="2788920"/>
            <a:ext cx="9052560" cy="749808"/>
          </a:xfrm>
          <a:prstGeom prst="line">
            <a:avLst/>
          </a:prstGeom>
          <a:ln w="25400">
            <a:solidFill>
              <a:srgbClr val="0E8C8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22960" y="4709160"/>
            <a:ext cx="9052560" cy="658368"/>
          </a:xfrm>
          <a:prstGeom prst="line">
            <a:avLst/>
          </a:prstGeom>
          <a:ln w="25400">
            <a:solidFill>
              <a:srgbClr val="13B51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5367528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9050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555F6B"/>
                </a:solidFill>
              </a:rPr>
              <a:t>7 · Operator console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map flips to 🚨 REROUTE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watchdog-hardened subscriber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367528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9050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555F6B"/>
                </a:solidFill>
              </a:rPr>
              <a:t>8 · Commuter phone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new route + alert appear live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no VPN app, any 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5367528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9050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555F6B"/>
                </a:solidFill>
              </a:rPr>
              <a:t>9 · Self-clearing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TTL expires or density drops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01828"/>
                </a:solidFill>
              </a:rPr>
              <a:t>→ route reverts, alert clears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4465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1828"/>
                </a:solidFill>
              </a:rPr>
              <a:t>Every hop is identity-to-identity and encrypted; a compromised network in the middle learns nothing and can inject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0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traditional way — VPN concentrator, firewalls, and N listening endpoints</a:t>
            </a:r>
            <a:r>
              <a:rPr sz="1300">
                <a:solidFill>
                  <a:srgbClr val="DEF2F2"/>
                </a:solidFill>
              </a:rPr>
              <a:t>   same system, built the way it's usually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2971800" cy="1298448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9050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00" b="1">
                <a:solidFill>
                  <a:srgbClr val="C02626"/>
                </a:solidFill>
              </a:rPr>
              <a:t>Intersection — Market St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📷 camera + inference box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static IP (or DDNS) · IPsec firewall/router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OPEN endpoint: IKE/500, ESP, or TLS/443 listening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615184"/>
            <a:ext cx="2971800" cy="1298448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9050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00" b="1">
                <a:solidFill>
                  <a:srgbClr val="C02626"/>
                </a:solidFill>
              </a:rPr>
              <a:t>Intersection — 5th Ave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📷 camera + inference box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static IP (or DDNS) · IPsec firewall/router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OPEN endpoint: IKE/500, ESP, or TLS/443 listening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041648"/>
            <a:ext cx="2971800" cy="1298448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9050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00" b="1">
                <a:solidFill>
                  <a:srgbClr val="C02626"/>
                </a:solidFill>
              </a:rPr>
              <a:t>Intersection — Broadway (…×N)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📷 camera + inference box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static IP (or DDNS) · IPsec firewall/router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OPEN endpoint: IKE/500, ESP, or TLS/443 listening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468112"/>
            <a:ext cx="2971800" cy="896112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9050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50" b="1">
                <a:solidFill>
                  <a:srgbClr val="C02626"/>
                </a:solidFill>
              </a:rPr>
              <a:t>Feed sources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per-source tunnels or an exposed API gateway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101828"/>
                </a:solidFill>
              </a:rPr>
              <a:t>more certs, more rules, more tickets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13632" y="1188720"/>
            <a:ext cx="1481328" cy="5029200"/>
          </a:xfrm>
          <a:prstGeom prst="roundRect">
            <a:avLst>
              <a:gd name="adj" fmla="val 5000"/>
            </a:avLst>
          </a:prstGeom>
          <a:solidFill>
            <a:srgbClr val="555F6B"/>
          </a:solidFill>
          <a:ln w="22225">
            <a:solidFill>
              <a:srgbClr val="101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Internet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N site-to-site IPsec tunnels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PSK / cert per site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NAT traversal pain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every endpoint scannable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41732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9050">
            <a:solidFill>
              <a:srgbClr val="8E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300" b="1">
                <a:solidFill>
                  <a:srgbClr val="8E1A1A"/>
                </a:solidFill>
              </a:rPr>
              <a:t>HQ — corporate firewall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VPN concentrator (HA pair)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single point of failure AND a choke point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appliance CVEs → emergency patch fire-drills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every packet hairpins through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3749039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9050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50" b="1">
                <a:solidFill>
                  <a:srgbClr val="555F6B"/>
                </a:solidFill>
              </a:rPr>
              <a:t>Route planner (behind FW)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reachable only inside the VPN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consumers must come to IT — or IT opens a DMZ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417320"/>
            <a:ext cx="2395728" cy="13258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9050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50" b="1">
                <a:solidFill>
                  <a:srgbClr val="C02626"/>
                </a:solidFill>
              </a:rPr>
              <a:t>Operator console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needs VPN access / on-net 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3291840"/>
            <a:ext cx="2395728" cy="141732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9050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250" b="1">
                <a:solidFill>
                  <a:srgbClr val="C02626"/>
                </a:solidFill>
              </a:rPr>
              <a:t>Commuter app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per-device VPN client licences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…or a public DMZ API to secure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101828"/>
                </a:solidFill>
              </a:rPr>
              <a:t>on-boarding friction per user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" y="1837944"/>
            <a:ext cx="621792" cy="0"/>
          </a:xfrm>
          <a:prstGeom prst="line">
            <a:avLst/>
          </a:prstGeom>
          <a:ln w="28575">
            <a:solidFill>
              <a:srgbClr val="C0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91840" y="3264408"/>
            <a:ext cx="621792" cy="0"/>
          </a:xfrm>
          <a:prstGeom prst="line">
            <a:avLst/>
          </a:prstGeom>
          <a:ln w="28575">
            <a:solidFill>
              <a:srgbClr val="C0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40" y="4690872"/>
            <a:ext cx="621792" cy="0"/>
          </a:xfrm>
          <a:prstGeom prst="line">
            <a:avLst/>
          </a:prstGeom>
          <a:ln w="28575">
            <a:solidFill>
              <a:srgbClr val="C0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0" y="6007608"/>
            <a:ext cx="621792" cy="0"/>
          </a:xfrm>
          <a:prstGeom prst="line">
            <a:avLst/>
          </a:prstGeom>
          <a:ln w="28575">
            <a:solidFill>
              <a:srgbClr val="C0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94960" y="2331720"/>
            <a:ext cx="658368" cy="0"/>
          </a:xfrm>
          <a:prstGeom prst="line">
            <a:avLst/>
          </a:prstGeom>
          <a:ln w="28575">
            <a:solidFill>
              <a:srgbClr val="C0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43216" y="3246120"/>
            <a:ext cx="0" cy="502919"/>
          </a:xfrm>
          <a:prstGeom prst="line">
            <a:avLst/>
          </a:prstGeom>
          <a:ln w="22225">
            <a:solidFill>
              <a:srgbClr val="8E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42248" y="2103120"/>
            <a:ext cx="621792" cy="0"/>
          </a:xfrm>
          <a:prstGeom prst="line">
            <a:avLst/>
          </a:prstGeom>
          <a:ln w="28575">
            <a:solidFill>
              <a:srgbClr val="C0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42248" y="2560320"/>
            <a:ext cx="621792" cy="1417319"/>
          </a:xfrm>
          <a:prstGeom prst="line">
            <a:avLst/>
          </a:prstGeom>
          <a:ln w="28575">
            <a:solidFill>
              <a:srgbClr val="C0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0040" y="6419088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BEEEE"/>
          </a:solidFill>
          <a:ln w="15875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N+1 listening attack surfaces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6419088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BEEEE"/>
          </a:solidFill>
          <a:ln w="15875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change ticket per site, per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64190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BEEEE"/>
          </a:solidFill>
          <a:ln w="15875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concentrator = SPOF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6419088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FBEEEE"/>
          </a:solidFill>
          <a:ln w="15875">
            <a:solidFill>
              <a:srgbClr val="C0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828"/>
                </a:solidFill>
              </a:rPr>
              <a:t>cert/PSK rotation ×N sites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Side by side — the same system, two networks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572000"/>
                <a:gridCol w="438912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555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Traditional VPN / firewall</a:t>
                      </a:r>
                    </a:p>
                  </a:txBody>
                  <a:tcPr>
                    <a:solidFill>
                      <a:srgbClr val="C0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Atsign Platform</a:t>
                      </a:r>
                    </a:p>
                  </a:txBody>
                  <a:tcPr>
                    <a:solidFill>
                      <a:srgbClr val="13B51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Connectivity model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Hub-and-spoke IPsec tunnels via concentrator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Direct identity↔identity, outbound-only both ends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What listens at a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IKE/ESP or TLS endpoint on every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Nothing — zero inbound ports to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Addressing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Static IPs / DDNS + routing tables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By identity (@atSign); IPs irrelevant, cellular fine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Encrypted in the tunnel, plaintext beyond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End-to-end: only the addressed identity can decrypt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Add an intersection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Ticket → firewall change → tunnel + certs → route update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Activate an atSign → one policy grant → live in minutes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Revoke a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Track down rules/certs across 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One click in the policy console; enforced in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Mobile / 3rd-party users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VPN client licences or a DMZ API to build &amp; defend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Just the app — encrypted pushes reach any network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Failure modes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Concentrator outage = city-wide outage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No central data-path chokepoint to 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1828"/>
                          </a:solidFill>
                        </a:rPr>
                        <a:t>Patching burden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E1A1A"/>
                          </a:solidFill>
                        </a:rPr>
                        <a:t>Appliance CVE fire-drills (VPN CVEs are attackers' #1 door)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7A0B"/>
                          </a:solidFill>
                        </a:rPr>
                        <a:t>No network appliances to patch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it costs — indicative 3-year model, 25 intersections + 3 feeds + planner</a:t>
            </a:r>
            <a:r>
              <a:rPr sz="1300">
                <a:solidFill>
                  <a:srgbClr val="DEF2F2"/>
                </a:solidFill>
              </a:rPr>
              <a:t>   the structure is the point; substitute your own quotes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3154680"/>
                <a:gridCol w="3154680"/>
              </a:tblGrid>
              <a:tr h="467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Cost line (3-yr)</a:t>
                      </a:r>
                    </a:p>
                  </a:txBody>
                  <a:tcPr>
                    <a:solidFill>
                      <a:srgbClr val="555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Traditional VPN / firewall</a:t>
                      </a:r>
                    </a:p>
                  </a:txBody>
                  <a:tcPr>
                    <a:solidFill>
                      <a:srgbClr val="C0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Atsign Platform</a:t>
                      </a:r>
                    </a:p>
                  </a:txBody>
                  <a:tcPr>
                    <a:solidFill>
                      <a:srgbClr val="13B513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</a:rPr>
                        <a:t>VPN concentrator (HA pair) + support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E1A1A"/>
                          </a:solidFill>
                        </a:rPr>
                        <a:t>$30,000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7A0B"/>
                          </a:solidFill>
                        </a:rPr>
                        <a:t>$0  — none needed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</a:rPr>
                        <a:t>Per-site IPsec firewall/router + support (25×)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E1A1A"/>
                          </a:solidFill>
                        </a:rPr>
                        <a:t>$24,000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7A0B"/>
                          </a:solidFill>
                        </a:rPr>
                        <a:t>$0  — any outbound internet (cellular OK)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</a:rPr>
                        <a:t>Static IPs / business-line premium (28×)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E1A1A"/>
                          </a:solidFill>
                        </a:rPr>
                        <a:t>$5,000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7A0B"/>
                          </a:solidFill>
                        </a:rPr>
                        <a:t>$0  — no inbound reachability required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</a:rPr>
                        <a:t>Firewall &amp; VPN operations (~0.25 FTE: tickets, tunnels, certs)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E1A1A"/>
                          </a:solidFill>
                        </a:rPr>
                        <a:t>$90,000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7A0B"/>
                          </a:solidFill>
                        </a:rPr>
                        <a:t>$18,000  (~0.05 FTE: policy grants in a console)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</a:rPr>
                        <a:t>Appliance patching, CVE fire-drills, site visits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E1A1A"/>
                          </a:solidFill>
                        </a:rPr>
                        <a:t>$15,000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7A0B"/>
                          </a:solidFill>
                        </a:rPr>
                        <a:t>$0  — no network appliances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</a:rPr>
                        <a:t>Platform subscription (≈30 identities, indicative)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E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B7A0B"/>
                          </a:solidFill>
                        </a:rPr>
                        <a:t>$11,000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1828"/>
                          </a:solidFill>
                        </a:rPr>
                        <a:t>TOTAL (3 years)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E1A1A"/>
                          </a:solidFill>
                        </a:rPr>
                        <a:t>$164,000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7A0B"/>
                          </a:solidFill>
                        </a:rPr>
                        <a:t>$29,000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1828"/>
                          </a:solidFill>
                        </a:rPr>
                        <a:t>Per intersection, per year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E1A1A"/>
                          </a:solidFill>
                        </a:rPr>
                        <a:t>≈ $2,190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7A0B"/>
                          </a:solidFill>
                        </a:rPr>
                        <a:t>≈ $385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108960" y="5760720"/>
            <a:ext cx="5943600" cy="384048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15875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01828"/>
                </a:solidFill>
              </a:rPr>
              <a:t>≈ 5–6× lower 3-year TCO — and the gap WIDENS with every site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F6B"/>
                </a:solidFill>
              </a:rPr>
              <a:t>Not counted (all favour the edge/atSign model): no video backhaul bandwidth, no per-user VPN licences, no DMZ API build-out, avoided breach exposure from N listening VPN endpoints.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Why this wins — beyond the invoice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400" b="1">
                <a:solidFill>
                  <a:srgbClr val="13B513"/>
                </a:solidFill>
              </a:rPr>
              <a:t>Security you can't misconfigure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101828"/>
                </a:solidFill>
              </a:rPr>
              <a:t>No listening endpoints to scan; E2E encryption is the default, not a firewall rule that can drift.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400" b="1">
                <a:solidFill>
                  <a:srgbClr val="0A6E6E"/>
                </a:solidFill>
              </a:rPr>
              <a:t>Scale is a grant, not a project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101828"/>
                </a:solidFill>
              </a:rPr>
              <a:t>Site #26 = activate an identity + one policy click. No tunnel, no ticket, no truck roll.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35224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400" b="1">
                <a:solidFill>
                  <a:srgbClr val="13B513"/>
                </a:solidFill>
              </a:rPr>
              <a:t>Edge inference stays at the edge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101828"/>
                </a:solidFill>
              </a:rPr>
              <a:t>Video is processed on the intersection machine; only ~1 KB encrypted facts travel. 4G/5G is enough.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935224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400" b="1">
                <a:solidFill>
                  <a:srgbClr val="0A6E6E"/>
                </a:solidFill>
              </a:rPr>
              <a:t>No chokepoint, no SPOF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101828"/>
                </a:solidFill>
              </a:rPr>
              <a:t>Messages flow identity-to-identity; there is no concentrator to size, patch, or lose.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36008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9F9EF"/>
          </a:solidFill>
          <a:ln w="19050">
            <a:solidFill>
              <a:srgbClr val="13B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400" b="1">
                <a:solidFill>
                  <a:srgbClr val="13B513"/>
                </a:solidFill>
              </a:rPr>
              <a:t>Governance is first-class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101828"/>
                </a:solidFill>
              </a:rPr>
              <a:t>Default-deny policy plane, one console: who may publish, provable per message, revocable in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636008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9050">
            <a:solidFill>
              <a:srgbClr val="0A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bIns="36576"/>
          <a:lstStyle/>
          <a:p>
            <a:pPr algn="l"/>
            <a:r>
              <a:rPr sz="1400" b="1">
                <a:solidFill>
                  <a:srgbClr val="0A6E6E"/>
                </a:solidFill>
              </a:rPr>
              <a:t>The brain was untouched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101828"/>
                </a:solidFill>
              </a:rPr>
              <a:t>Intel's LangGraph planner ran unchanged — this is a transport swap, a repeatable pattern for any edge-AI 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Put the intelligence at the edge. Put the trust in identity.</a:t>
            </a:r>
          </a:p>
          <a:p>
            <a:r>
              <a:rPr sz="1700">
                <a:solidFill>
                  <a:srgbClr val="E6FAFA"/>
                </a:solidFill>
              </a:rPr>
              <a:t>Camera inference on independent machines · encrypted identity-addressed messages · no VPN, no firewall rules, no inbound ports — at a fraction of the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